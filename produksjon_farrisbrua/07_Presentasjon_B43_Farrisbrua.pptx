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916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203864"/>
                </a:solidFill>
              </a:rPr>
              <a:t>FARRISBRUA B43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2542032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52C"/>
                </a:solidFill>
              </a:rPr>
              <a:t>Realistisk spillovelse for 110-vaktlag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999232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6"/>
                </a:solidFill>
              </a:rPr>
              <a:t>3 OP + 1 VL | ca. 90 minutter action time | Stavern</a:t>
            </a:r>
            <a:endParaRPr lang="en-US" sz="1250" dirty="0"/>
          </a:p>
        </p:txBody>
      </p:sp>
      <p:pic>
        <p:nvPicPr>
          <p:cNvPr id="7" name="Image 0" descr="C:\Users\runeg\OneDrive\Documents\Brann ting\Brannskolen 110 Kurs\Øvelsesplanlegging\produksjon_farrisbrua\08_bildepakke\bilde_1_farrisbru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417320"/>
            <a:ext cx="4800600" cy="2697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617720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A0302A"/>
          </a:solidFill>
          <a:ln w="12700">
            <a:solidFill>
              <a:srgbClr val="A030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091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Før-brief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88920" y="4617720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80360" y="47091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Spillstab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92040" y="4617720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28724F"/>
          </a:solidFill>
          <a:ln w="12700">
            <a:solidFill>
              <a:srgbClr val="2872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47091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AAR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551383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6"/>
                </a:solidFill>
              </a:rPr>
              <a:t>Scenarioet er ukjent for de ovende ved start. Bildet brukes forst i ettergjennomgang eller pa riktig tidspunkt i spillet.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Presentasjon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052560" y="64465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OVELSE - fiktivt scenario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302A"/>
                </a:solidFill>
              </a:rPr>
              <a:t>DEL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3864"/>
                </a:solidFill>
              </a:rPr>
              <a:t>For-brief: rammer for de ovende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234440" cy="0"/>
          </a:xfrm>
          <a:prstGeom prst="line">
            <a:avLst/>
          </a:prstGeom>
          <a:noFill/>
          <a:ln w="27940">
            <a:solidFill>
              <a:srgbClr val="A030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557784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1D252C"/>
                </a:solidFill>
              </a:rPr>
              <a:t>B43 er en fiktiv ovelsessentral i kontrollromsetting.</a:t>
            </a:r>
            <a:endParaRPr lang="en-US" sz="1500" dirty="0"/>
          </a:p>
          <a:p>
            <a:r>
              <a:rPr lang="en-US" sz="1500" dirty="0">
                <a:solidFill>
                  <a:srgbClr val="1D252C"/>
                </a:solidFill>
              </a:rPr>
              <a:t>Ovelsen varer ca. 90 minutter og kjores som spillovelse.</a:t>
            </a:r>
            <a:endParaRPr lang="en-US" sz="1500" dirty="0"/>
          </a:p>
          <a:p>
            <a:r>
              <a:rPr lang="en-US" sz="1500" dirty="0">
                <a:solidFill>
                  <a:srgbClr val="1D252C"/>
                </a:solidFill>
              </a:rPr>
              <a:t>Systembruk/LEO evalueres bare der det er nodvendig for gjennomforingen.</a:t>
            </a:r>
            <a:endParaRPr lang="en-US" sz="1500" dirty="0"/>
          </a:p>
          <a:p>
            <a:r>
              <a:rPr lang="en-US" sz="1500" dirty="0">
                <a:solidFill>
                  <a:srgbClr val="1D252C"/>
                </a:solidFill>
              </a:rPr>
              <a:t>Dere øver struktur, rollefordeling, meldingsmottak, samvirke og situasjonsforståelse.</a:t>
            </a:r>
            <a:endParaRPr lang="en-US" sz="1500" dirty="0"/>
          </a:p>
          <a:p>
            <a:r>
              <a:rPr lang="en-US" sz="1500" dirty="0">
                <a:solidFill>
                  <a:srgbClr val="1D252C"/>
                </a:solidFill>
              </a:rPr>
              <a:t>Scenarioet er ukjent ved start.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600200"/>
            <a:ext cx="4480560" cy="3154680"/>
          </a:xfrm>
          <a:prstGeom prst="roundRect">
            <a:avLst>
              <a:gd name="adj" fmla="val 1739"/>
            </a:avLst>
          </a:prstGeom>
          <a:solidFill>
            <a:srgbClr val="F9FBFC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302A"/>
                </a:solidFill>
              </a:rPr>
              <a:t>Stoppkode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86600" y="24231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03864"/>
                </a:solidFill>
              </a:rPr>
              <a:t>STOPP OVELSE B43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86600" y="306324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D252C"/>
                </a:solidFill>
              </a:rPr>
              <a:t>Ved reell hendelse eller uklarhet stoppes ovelsen og ovingsleder avklarer videre handtering.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Før-brief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052560" y="64465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OVELSE - fiktivt scenario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302A"/>
                </a:solidFill>
              </a:rPr>
              <a:t>DEL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3864"/>
                </a:solidFill>
              </a:rPr>
              <a:t>Laringsmal for vaktlaget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234440" cy="0"/>
          </a:xfrm>
          <a:prstGeom prst="line">
            <a:avLst/>
          </a:prstGeom>
          <a:noFill/>
          <a:ln w="27940">
            <a:solidFill>
              <a:srgbClr val="A030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27048"/>
            <a:ext cx="384048" cy="384048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18488"/>
            <a:ext cx="1645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D252C"/>
                </a:solidFill>
              </a:rPr>
              <a:t>Handtere forste nodmelding og utalarmering strukturert og tidsriktig.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384048" cy="384048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331720"/>
            <a:ext cx="1645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17320" y="2221992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D252C"/>
                </a:solidFill>
              </a:rPr>
              <a:t>Etablere og oppdatere felles situasjonsforstaelse mens ressurser er pa vei.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2953512"/>
            <a:ext cx="384048" cy="384048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044952"/>
            <a:ext cx="1645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17320" y="2935224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D252C"/>
                </a:solidFill>
              </a:rPr>
              <a:t>Samvirke hensiktsmessig med politi, AMK og VTS.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3666744"/>
            <a:ext cx="384048" cy="384048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758184"/>
            <a:ext cx="1645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417320" y="3648456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D252C"/>
                </a:solidFill>
              </a:rPr>
              <a:t>Fordele oppgaver og sikre overgang fra akuttfase til driftsfase.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22960" y="4379976"/>
            <a:ext cx="384048" cy="384048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471416"/>
            <a:ext cx="1645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17320" y="4361688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D252C"/>
                </a:solidFill>
              </a:rPr>
              <a:t>Oppsummere status presist for ovelsen avsluttes.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Før-brief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052560" y="64465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OVELSE - fiktivt scenario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302A"/>
                </a:solidFill>
              </a:rPr>
              <a:t>DEL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3864"/>
                </a:solidFill>
              </a:rPr>
              <a:t>Forventet arbeidsform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234440" cy="0"/>
          </a:xfrm>
          <a:prstGeom prst="line">
            <a:avLst/>
          </a:prstGeom>
          <a:noFill/>
          <a:ln w="27940">
            <a:solidFill>
              <a:srgbClr val="A030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64208"/>
            <a:ext cx="2423160" cy="301752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38528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A0302A"/>
          </a:solidFill>
          <a:ln w="12700">
            <a:solidFill>
              <a:srgbClr val="A030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93392"/>
            <a:ext cx="108813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32688" y="251460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52C"/>
                </a:solidFill>
              </a:rPr>
              <a:t>Meldingsmottak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D252C"/>
                </a:solidFill>
              </a:rPr>
              <a:t>Melderoppfølging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D252C"/>
                </a:solidFill>
              </a:rPr>
              <a:t>Trygg veiledning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47288" y="1664208"/>
            <a:ext cx="2423160" cy="301752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75888" y="1938528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993392"/>
            <a:ext cx="108813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 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721608" y="251460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52C"/>
                </a:solidFill>
              </a:rPr>
              <a:t>Utalarmering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D252C"/>
                </a:solidFill>
              </a:rPr>
              <a:t>Trippelvarsling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D252C"/>
                </a:solidFill>
              </a:rPr>
              <a:t>AMK/politi/VTS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6208" y="1664208"/>
            <a:ext cx="2423160" cy="301752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808" y="1938528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9A6B12"/>
          </a:solidFill>
          <a:ln w="12700">
            <a:solidFill>
              <a:srgbClr val="9A6B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993392"/>
            <a:ext cx="108813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 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510528" y="251460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52C"/>
                </a:solidFill>
              </a:rPr>
              <a:t>Logg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D252C"/>
                </a:solidFill>
              </a:rPr>
              <a:t>Ressursoversikt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D252C"/>
                </a:solidFill>
              </a:rPr>
              <a:t>Støtte til VL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025128" y="1664208"/>
            <a:ext cx="2423160" cy="301752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53728" y="1938528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28724F"/>
          </a:solidFill>
          <a:ln w="12700">
            <a:solidFill>
              <a:srgbClr val="2872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1993392"/>
            <a:ext cx="108813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299448" y="251460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52C"/>
                </a:solidFill>
              </a:rPr>
              <a:t>Prioritering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D252C"/>
                </a:solidFill>
              </a:rPr>
              <a:t>Rollefordeling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D252C"/>
                </a:solidFill>
              </a:rPr>
              <a:t>Felles situasjonsbilde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52578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</a:rPr>
              <a:t>Dette er ikke en patvunget fasit, men en struktur som gjor det mulig a lykkes i et kunstig ovingsmiljo.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Før-brief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052560" y="64465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OVELSE - fiktivt scenario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302A"/>
                </a:solidFill>
              </a:rPr>
              <a:t>DEL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3864"/>
                </a:solidFill>
              </a:rPr>
              <a:t>Spillstab: styr etter hensikt, ikke dramatikk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234440" cy="0"/>
          </a:xfrm>
          <a:prstGeom prst="line">
            <a:avLst/>
          </a:prstGeom>
          <a:noFill/>
          <a:ln w="27940">
            <a:solidFill>
              <a:srgbClr val="A030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5760720" cy="3886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50" dirty="0">
                <a:solidFill>
                  <a:srgbClr val="1D252C"/>
                </a:solidFill>
              </a:rPr>
              <a:t>Motspillere følger spillkort og dreiebok.</a:t>
            </a:r>
            <a:endParaRPr lang="en-US" sz="1450" dirty="0"/>
          </a:p>
          <a:p>
            <a:r>
              <a:rPr lang="en-US" sz="1450" dirty="0">
                <a:solidFill>
                  <a:srgbClr val="1D252C"/>
                </a:solidFill>
              </a:rPr>
              <a:t>Ikke legg inn farlig last, sabotasje, mange hardt skadde eller storre eskalering uten ovingsleder.</a:t>
            </a:r>
            <a:endParaRPr lang="en-US" sz="1450" dirty="0"/>
          </a:p>
          <a:p>
            <a:r>
              <a:rPr lang="en-US" sz="1450" dirty="0">
                <a:solidFill>
                  <a:srgbClr val="1D252C"/>
                </a:solidFill>
              </a:rPr>
              <a:t>Innringer 2 og 3 skal bare teste håndtering av duplikat-/avstandsmeldinger.</a:t>
            </a:r>
            <a:endParaRPr lang="en-US" sz="1450" dirty="0"/>
          </a:p>
          <a:p>
            <a:r>
              <a:rPr lang="en-US" sz="1450" dirty="0">
                <a:solidFill>
                  <a:srgbClr val="1D252C"/>
                </a:solidFill>
              </a:rPr>
              <a:t>Forsvaret/militaer kolonne er kontekst, ikke hovedaktor.</a:t>
            </a:r>
            <a:endParaRPr lang="en-US" sz="1450" dirty="0"/>
          </a:p>
          <a:p>
            <a:r>
              <a:rPr lang="en-US" sz="1450" dirty="0">
                <a:solidFill>
                  <a:srgbClr val="1D252C"/>
                </a:solidFill>
              </a:rPr>
              <a:t>Dersom teknikk svikter, gis innspillet muntlig av ovingsleder.</a:t>
            </a:r>
            <a:endParaRPr lang="en-US" sz="1450" dirty="0"/>
          </a:p>
        </p:txBody>
      </p:sp>
      <p:pic>
        <p:nvPicPr>
          <p:cNvPr id="6" name="Image 0" descr="C:\Users\runeg\OneDrive\Documents\Brann ting\Brannskolen 110 Kurs\Øvelsesplanlegging\produksjon_farrisbrua\08_bildepakke\bilde_2_farrisbru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508760"/>
            <a:ext cx="4251960" cy="23957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86600" y="4160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B76"/>
                </a:solidFill>
              </a:rPr>
              <a:t>Bildepakke brukes bare pa definert tidspunkt.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Spillstab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052560" y="64465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OVELSE - fiktivt scenario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302A"/>
                </a:solidFill>
              </a:rPr>
              <a:t>DEL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3864"/>
                </a:solidFill>
              </a:rPr>
              <a:t>Ettergjennomgang: faktisk ovelsesforlop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234440" cy="0"/>
          </a:xfrm>
          <a:prstGeom prst="line">
            <a:avLst/>
          </a:prstGeom>
          <a:noFill/>
          <a:ln w="27940">
            <a:solidFill>
              <a:srgbClr val="A030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1993392" cy="1005840"/>
          </a:xfrm>
          <a:prstGeom prst="chevron">
            <a:avLst/>
          </a:prstGeom>
          <a:solidFill>
            <a:srgbClr val="A030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8483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0-8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5528" y="233172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Nødtelefon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utalarmering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26080" y="1874520"/>
            <a:ext cx="1993392" cy="1005840"/>
          </a:xfrm>
          <a:prstGeom prst="chevron">
            <a:avLst/>
          </a:prstGeom>
          <a:solidFill>
            <a:srgbClr val="A030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208483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8-22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35808" y="233172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Fremkjøring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situasjonsbilde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66360" y="1874520"/>
            <a:ext cx="1993392" cy="1005840"/>
          </a:xfrm>
          <a:prstGeom prst="chevron">
            <a:avLst/>
          </a:prstGeom>
          <a:solidFill>
            <a:srgbClr val="9A6B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76088" y="208483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22-35 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76088" y="233172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Forste ressurs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vindusmelding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1874520"/>
            <a:ext cx="1993392" cy="1005840"/>
          </a:xfrm>
          <a:prstGeom prst="chevron">
            <a:avLst/>
          </a:prstGeom>
          <a:solidFill>
            <a:srgbClr val="1F5F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6368" y="208483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35-75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16368" y="233172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Driftsfase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avklaringer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46920" y="1874520"/>
            <a:ext cx="1993392" cy="1005840"/>
          </a:xfrm>
          <a:prstGeom prst="chevron">
            <a:avLst/>
          </a:prstGeom>
          <a:solidFill>
            <a:srgbClr val="1F5F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56648" y="208483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75-90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756648" y="233172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Status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AAR</a:t>
            </a:r>
            <a:endParaRPr lang="en-US" sz="1050" dirty="0"/>
          </a:p>
        </p:txBody>
      </p:sp>
      <p:pic>
        <p:nvPicPr>
          <p:cNvPr id="20" name="Image 0" descr="C:\Users\runeg\OneDrive\Documents\Brann ting\Brannskolen 110 Kurs\Øvelsesplanlegging\produksjon_farrisbrua\08_bildepakke\bilde_4_farrisbru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3657600"/>
            <a:ext cx="5852160" cy="21031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Ettergjennomgang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052560" y="64465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OVELSE - fiktivt scenario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302A"/>
                </a:solidFill>
              </a:rPr>
              <a:t>DEL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3864"/>
                </a:solidFill>
              </a:rPr>
              <a:t>AAR: fem spørsmål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234440" cy="0"/>
          </a:xfrm>
          <a:prstGeom prst="line">
            <a:avLst/>
          </a:prstGeom>
          <a:noFill/>
          <a:ln w="27940">
            <a:solidFill>
              <a:srgbClr val="A030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302A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1508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52C"/>
                </a:solidFill>
              </a:rPr>
              <a:t>Hva forventet vi ville skje?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26771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302A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22199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52C"/>
                </a:solidFill>
              </a:rPr>
              <a:t>Hva skjedde?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98094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302A"/>
                </a:solidFill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935224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52C"/>
                </a:solidFill>
              </a:rPr>
              <a:t>Hvorfor ble det slik?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69417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302A"/>
                </a:solidFill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648456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52C"/>
                </a:solidFill>
              </a:rPr>
              <a:t>Hva gikk bra, og hvorfor?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440740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302A"/>
                </a:solidFill>
              </a:rPr>
              <a:t>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436168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52C"/>
                </a:solidFill>
              </a:rPr>
              <a:t>Hva kan forbedres, og hvordan?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56235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864"/>
                </a:solidFill>
              </a:rPr>
              <a:t>Fokus pa hva og hvorfor, ikke hvem.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052560" y="64465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OVELSE - fiktivt scenario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302A"/>
                </a:solidFill>
              </a:rPr>
              <a:t>DEL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3864"/>
                </a:solidFill>
              </a:rPr>
              <a:t>Oppsummer læring i tre kolonner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234440" cy="0"/>
          </a:xfrm>
          <a:prstGeom prst="line">
            <a:avLst/>
          </a:prstGeom>
          <a:noFill/>
          <a:ln w="27940">
            <a:solidFill>
              <a:srgbClr val="A030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320040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3200400" cy="475488"/>
          </a:xfrm>
          <a:prstGeom prst="rect">
            <a:avLst/>
          </a:prstGeom>
          <a:solidFill>
            <a:srgbClr val="28724F"/>
          </a:solidFill>
          <a:ln w="12700">
            <a:solidFill>
              <a:srgbClr val="287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8366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Fortsette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514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52C"/>
                </a:solidFill>
              </a:rPr>
              <a:t>Hva fungerte godt nok til å videreføres?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3703320"/>
            <a:ext cx="2560320" cy="0"/>
          </a:xfrm>
          <a:prstGeom prst="line">
            <a:avLst/>
          </a:prstGeom>
          <a:noFill/>
          <a:ln w="12700">
            <a:solidFill>
              <a:srgbClr val="D7DD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4069080"/>
            <a:ext cx="2560320" cy="0"/>
          </a:xfrm>
          <a:prstGeom prst="line">
            <a:avLst/>
          </a:prstGeom>
          <a:noFill/>
          <a:ln w="12700">
            <a:solidFill>
              <a:srgbClr val="D7DD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737360"/>
            <a:ext cx="320040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737360"/>
            <a:ext cx="3200400" cy="475488"/>
          </a:xfrm>
          <a:prstGeom prst="rect">
            <a:avLst/>
          </a:prstGeom>
          <a:solidFill>
            <a:srgbClr val="A0302A"/>
          </a:solidFill>
          <a:ln w="12700">
            <a:solidFill>
              <a:srgbClr val="A030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88366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Slutte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514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52C"/>
                </a:solidFill>
              </a:rPr>
              <a:t>Hva skapte støy, venting eller uklarhet?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3703320"/>
            <a:ext cx="2560320" cy="0"/>
          </a:xfrm>
          <a:prstGeom prst="line">
            <a:avLst/>
          </a:prstGeom>
          <a:noFill/>
          <a:ln w="12700">
            <a:solidFill>
              <a:srgbClr val="D7DD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4069080"/>
            <a:ext cx="2560320" cy="0"/>
          </a:xfrm>
          <a:prstGeom prst="line">
            <a:avLst/>
          </a:prstGeom>
          <a:noFill/>
          <a:ln w="12700">
            <a:solidFill>
              <a:srgbClr val="D7DD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737360"/>
            <a:ext cx="320040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737360"/>
            <a:ext cx="3200400" cy="47548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188366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Begynne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49640" y="2514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52C"/>
                </a:solidFill>
              </a:rPr>
              <a:t>Hva bør prøves neste gang?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49640" y="3703320"/>
            <a:ext cx="2560320" cy="0"/>
          </a:xfrm>
          <a:prstGeom prst="line">
            <a:avLst/>
          </a:prstGeom>
          <a:noFill/>
          <a:ln w="12700">
            <a:solidFill>
              <a:srgbClr val="D7DD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49640" y="4069080"/>
            <a:ext cx="2560320" cy="0"/>
          </a:xfrm>
          <a:prstGeom prst="line">
            <a:avLst/>
          </a:prstGeom>
          <a:noFill/>
          <a:ln w="12700">
            <a:solidFill>
              <a:srgbClr val="D7DD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052560" y="64465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OVELSE - fiktivt scenario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Brannskolen 110 kurs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Farrisbrua B43</dc:title>
  <dc:subject>Før-brief og ettergjennomgang for realistisk 110-øvelse</dc:subject>
  <dc:creator>B43 øvingsgruppe</dc:creator>
  <cp:lastModifiedBy>B43 øvingsgruppe</cp:lastModifiedBy>
  <cp:revision>1</cp:revision>
  <dcterms:created xsi:type="dcterms:W3CDTF">2026-05-04T09:11:27Z</dcterms:created>
  <dcterms:modified xsi:type="dcterms:W3CDTF">2026-05-04T09:11:27Z</dcterms:modified>
</cp:coreProperties>
</file>