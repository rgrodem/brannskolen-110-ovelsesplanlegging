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03864"/>
          </a:solidFill>
          <a:ln w="12700">
            <a:solidFill>
              <a:srgbClr val="20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795528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203864"/>
                </a:solidFill>
              </a:rPr>
              <a:t>FARRISBRUA B43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85800" y="2542032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252C"/>
                </a:solidFill>
              </a:rPr>
              <a:t>Realistisk spilløvelse for 110-vaktlag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2999232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B76"/>
                </a:solidFill>
              </a:rPr>
              <a:t>3 OP + 1 VL | ca. 90 minutter action time | Stavern</a:t>
            </a:r>
            <a:endParaRPr lang="en-US" sz="1250" dirty="0"/>
          </a:p>
        </p:txBody>
      </p:sp>
      <p:pic>
        <p:nvPicPr>
          <p:cNvPr id="7" name="Image 0" descr="C:\Users\runeg\OneDrive\Documents\Brann ting\Brannskolen 110 Kurs\Øvelsesplanlegging\produksjon_farrisbrua\08_bildepakke\bilde_1_farrisbru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417320"/>
            <a:ext cx="4800600" cy="2697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4617720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A0302A"/>
          </a:solidFill>
          <a:ln w="12700">
            <a:solidFill>
              <a:srgbClr val="A030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70916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Før-brief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788920" y="4617720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880360" y="470916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Spillstab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892040" y="4617720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28724F"/>
          </a:solidFill>
          <a:ln w="12700">
            <a:solidFill>
              <a:srgbClr val="28724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470916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AAR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85800" y="5513832"/>
            <a:ext cx="10789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76"/>
                </a:solidFill>
              </a:rPr>
              <a:t>Scenarioet er ukjent for de øvende ved start. Bildet brukes først i ettergjennomgang eller på riktig tidspunkt i spillet.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02920" y="6446520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Presentasjon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9052560" y="644652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ØVELSE - fiktivt scenario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0302A"/>
                </a:solidFill>
              </a:rPr>
              <a:t>DEL 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03864"/>
                </a:solidFill>
              </a:rPr>
              <a:t>Før-brief: rammer for de øvende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234440" cy="0"/>
          </a:xfrm>
          <a:prstGeom prst="line">
            <a:avLst/>
          </a:prstGeom>
          <a:noFill/>
          <a:ln w="27940">
            <a:solidFill>
              <a:srgbClr val="A030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00200"/>
            <a:ext cx="5577840" cy="3566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D252C"/>
                </a:solidFill>
              </a:rPr>
              <a:t>B43 er en fiktiv øvelsessentral i kontrollromsetting.</a:t>
            </a:r>
            <a:endParaRPr lang="en-US" sz="1500" dirty="0"/>
          </a:p>
          <a:p>
            <a:r>
              <a:rPr lang="en-US" sz="1500" dirty="0">
                <a:solidFill>
                  <a:srgbClr val="1D252C"/>
                </a:solidFill>
              </a:rPr>
              <a:t>Øvelsen varer ca. 90 minutter og kjøres som spilløvelse.</a:t>
            </a:r>
            <a:endParaRPr lang="en-US" sz="1500" dirty="0"/>
          </a:p>
          <a:p>
            <a:r>
              <a:rPr lang="en-US" sz="1500" dirty="0">
                <a:solidFill>
                  <a:srgbClr val="1D252C"/>
                </a:solidFill>
              </a:rPr>
              <a:t>Systembruk/LEO evalueres bare der det er nødvendig for gjennomføringen.</a:t>
            </a:r>
            <a:endParaRPr lang="en-US" sz="1500" dirty="0"/>
          </a:p>
          <a:p>
            <a:r>
              <a:rPr lang="en-US" sz="1500" dirty="0">
                <a:solidFill>
                  <a:srgbClr val="1D252C"/>
                </a:solidFill>
              </a:rPr>
              <a:t>Dere øver struktur, rollefordeling, meldingsmottak, samvirke og situasjonsforståelse.</a:t>
            </a:r>
            <a:endParaRPr lang="en-US" sz="1500" dirty="0"/>
          </a:p>
          <a:p>
            <a:r>
              <a:rPr lang="en-US" sz="1500" dirty="0">
                <a:solidFill>
                  <a:srgbClr val="1D252C"/>
                </a:solidFill>
              </a:rPr>
              <a:t>Scenarioet er ukjent ved start.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766560" y="1600200"/>
            <a:ext cx="4480560" cy="3154680"/>
          </a:xfrm>
          <a:prstGeom prst="roundRect">
            <a:avLst>
              <a:gd name="adj" fmla="val 1739"/>
            </a:avLst>
          </a:prstGeom>
          <a:solidFill>
            <a:srgbClr val="F9FBFC"/>
          </a:solidFill>
          <a:ln w="12700">
            <a:solidFill>
              <a:srgbClr val="D7DD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86600" y="19202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0302A"/>
                </a:solidFill>
              </a:rPr>
              <a:t>Stoppkode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086600" y="242316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03864"/>
                </a:solidFill>
              </a:rPr>
              <a:t>STOPP ØVELSE B43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086600" y="3063240"/>
            <a:ext cx="37033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D252C"/>
                </a:solidFill>
              </a:rPr>
              <a:t>Ved reell hendelse eller uklarhet stoppes øvelsen og øvingsleder avklarer videre håndtering.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6446520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Før-brief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9052560" y="644652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ØVELSE - fiktivt scenario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0302A"/>
                </a:solidFill>
              </a:rPr>
              <a:t>DEL 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03864"/>
                </a:solidFill>
              </a:rPr>
              <a:t>Læringsmål for vaktlaget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234440" cy="0"/>
          </a:xfrm>
          <a:prstGeom prst="line">
            <a:avLst/>
          </a:prstGeom>
          <a:noFill/>
          <a:ln w="27940">
            <a:solidFill>
              <a:srgbClr val="A030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27048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618488"/>
            <a:ext cx="16459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417320" y="1508760"/>
            <a:ext cx="987552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D252C"/>
                </a:solidFill>
              </a:rPr>
              <a:t>Håndtere første nødmelding og utalarmering strukturert og tidsriktig.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2331720"/>
            <a:ext cx="16459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417320" y="2221992"/>
            <a:ext cx="987552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D252C"/>
                </a:solidFill>
              </a:rPr>
              <a:t>Etablere og oppdatere felles situasjonsforståelse mens ressurser er på vei.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22960" y="2953512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3044952"/>
            <a:ext cx="16459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87552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D252C"/>
                </a:solidFill>
              </a:rPr>
              <a:t>Samvirke hensiktsmessig med politi, AMK og VTS.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3666744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3758184"/>
            <a:ext cx="16459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417320" y="3648456"/>
            <a:ext cx="987552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D252C"/>
                </a:solidFill>
              </a:rPr>
              <a:t>Fordele oppgaver og sikre overgang fra akuttfase til driftsfase.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822960" y="4379976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4471416"/>
            <a:ext cx="16459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5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17320" y="4361688"/>
            <a:ext cx="987552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D252C"/>
                </a:solidFill>
              </a:rPr>
              <a:t>Oppsummere status presist før øvelsen avsluttes.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Før-brief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9052560" y="644652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ØVELSE - fiktivt scenario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0302A"/>
                </a:solidFill>
              </a:rPr>
              <a:t>DEL 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03864"/>
                </a:solidFill>
              </a:rPr>
              <a:t>Forventet arbeidsform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234440" cy="0"/>
          </a:xfrm>
          <a:prstGeom prst="line">
            <a:avLst/>
          </a:prstGeom>
          <a:noFill/>
          <a:ln w="27940">
            <a:solidFill>
              <a:srgbClr val="A030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664208"/>
            <a:ext cx="2423160" cy="3017520"/>
          </a:xfrm>
          <a:prstGeom prst="roundRect">
            <a:avLst>
              <a:gd name="adj" fmla="val 2642"/>
            </a:avLst>
          </a:prstGeom>
          <a:solidFill>
            <a:srgbClr val="FFFFFF"/>
          </a:solidFill>
          <a:ln w="12700">
            <a:solidFill>
              <a:srgbClr val="D7DD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938528"/>
            <a:ext cx="1234440" cy="256032"/>
          </a:xfrm>
          <a:prstGeom prst="roundRect">
            <a:avLst>
              <a:gd name="adj" fmla="val 14286"/>
            </a:avLst>
          </a:prstGeom>
          <a:solidFill>
            <a:srgbClr val="A0302A"/>
          </a:solidFill>
          <a:ln w="12700">
            <a:solidFill>
              <a:srgbClr val="A030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993392"/>
            <a:ext cx="1088136" cy="1097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OP 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932688" y="2514600"/>
            <a:ext cx="18745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52C"/>
                </a:solidFill>
              </a:rPr>
              <a:t>Meldingsmottak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D252C"/>
                </a:solidFill>
              </a:rPr>
              <a:t>Melderoppfølging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D252C"/>
                </a:solidFill>
              </a:rPr>
              <a:t>Trygg veiledning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447288" y="1664208"/>
            <a:ext cx="2423160" cy="3017520"/>
          </a:xfrm>
          <a:prstGeom prst="roundRect">
            <a:avLst>
              <a:gd name="adj" fmla="val 2642"/>
            </a:avLst>
          </a:prstGeom>
          <a:solidFill>
            <a:srgbClr val="FFFFFF"/>
          </a:solidFill>
          <a:ln w="12700">
            <a:solidFill>
              <a:srgbClr val="D7DD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75888" y="1938528"/>
            <a:ext cx="1234440" cy="256032"/>
          </a:xfrm>
          <a:prstGeom prst="roundRect">
            <a:avLst>
              <a:gd name="adj" fmla="val 14286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1993392"/>
            <a:ext cx="1088136" cy="1097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OP 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721608" y="2514600"/>
            <a:ext cx="18745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52C"/>
                </a:solidFill>
              </a:rPr>
              <a:t>Utalarmering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D252C"/>
                </a:solidFill>
              </a:rPr>
              <a:t>Trippelvarsling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D252C"/>
                </a:solidFill>
              </a:rPr>
              <a:t>AMK/politi/VTS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36208" y="1664208"/>
            <a:ext cx="2423160" cy="3017520"/>
          </a:xfrm>
          <a:prstGeom prst="roundRect">
            <a:avLst>
              <a:gd name="adj" fmla="val 2642"/>
            </a:avLst>
          </a:prstGeom>
          <a:solidFill>
            <a:srgbClr val="FFFFFF"/>
          </a:solidFill>
          <a:ln w="12700">
            <a:solidFill>
              <a:srgbClr val="D7DD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4808" y="1938528"/>
            <a:ext cx="1234440" cy="256032"/>
          </a:xfrm>
          <a:prstGeom prst="roundRect">
            <a:avLst>
              <a:gd name="adj" fmla="val 14286"/>
            </a:avLst>
          </a:prstGeom>
          <a:solidFill>
            <a:srgbClr val="9A6B12"/>
          </a:solidFill>
          <a:ln w="12700">
            <a:solidFill>
              <a:srgbClr val="9A6B1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993392"/>
            <a:ext cx="1088136" cy="1097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OP 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510528" y="2514600"/>
            <a:ext cx="18745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52C"/>
                </a:solidFill>
              </a:rPr>
              <a:t>Logg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D252C"/>
                </a:solidFill>
              </a:rPr>
              <a:t>Ressursoversikt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D252C"/>
                </a:solidFill>
              </a:rPr>
              <a:t>Støtte til VL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025128" y="1664208"/>
            <a:ext cx="2423160" cy="3017520"/>
          </a:xfrm>
          <a:prstGeom prst="roundRect">
            <a:avLst>
              <a:gd name="adj" fmla="val 2642"/>
            </a:avLst>
          </a:prstGeom>
          <a:solidFill>
            <a:srgbClr val="FFFFFF"/>
          </a:solidFill>
          <a:ln w="12700">
            <a:solidFill>
              <a:srgbClr val="D7DD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253728" y="1938528"/>
            <a:ext cx="1234440" cy="256032"/>
          </a:xfrm>
          <a:prstGeom prst="roundRect">
            <a:avLst>
              <a:gd name="adj" fmla="val 14286"/>
            </a:avLst>
          </a:prstGeom>
          <a:solidFill>
            <a:srgbClr val="28724F"/>
          </a:solidFill>
          <a:ln w="12700">
            <a:solidFill>
              <a:srgbClr val="2872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1993392"/>
            <a:ext cx="1088136" cy="1097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VL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9299448" y="2514600"/>
            <a:ext cx="18745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52C"/>
                </a:solidFill>
              </a:rPr>
              <a:t>Prioritering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D252C"/>
                </a:solidFill>
              </a:rPr>
              <a:t>Rollefordeling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D252C"/>
                </a:solidFill>
              </a:rPr>
              <a:t>Felles situasjonsbilde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525780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B76"/>
                </a:solidFill>
              </a:rPr>
              <a:t>Dette er ikke en påtvunget fasit, men en struktur som gjør det mulig å lykkes i et kunstig øvingsmiljø.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6446520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Før-brief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052560" y="644652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ØVELSE - fiktivt scenario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0302A"/>
                </a:solidFill>
              </a:rPr>
              <a:t>DEL 2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03864"/>
                </a:solidFill>
              </a:rPr>
              <a:t>Spillstab: styr etter hensikt, ikke dramatikk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234440" cy="0"/>
          </a:xfrm>
          <a:prstGeom prst="line">
            <a:avLst/>
          </a:prstGeom>
          <a:noFill/>
          <a:ln w="27940">
            <a:solidFill>
              <a:srgbClr val="A030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08760"/>
            <a:ext cx="5760720" cy="3886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50" dirty="0">
                <a:solidFill>
                  <a:srgbClr val="1D252C"/>
                </a:solidFill>
              </a:rPr>
              <a:t>Motspillere følger spillkort og dreiebok.</a:t>
            </a:r>
            <a:endParaRPr lang="en-US" sz="1450" dirty="0"/>
          </a:p>
          <a:p>
            <a:r>
              <a:rPr lang="en-US" sz="1450" dirty="0">
                <a:solidFill>
                  <a:srgbClr val="1D252C"/>
                </a:solidFill>
              </a:rPr>
              <a:t>Ikke legg inn farlig last, sabotasje, mange hardt skadde eller større eskalering uten øvingsleder.</a:t>
            </a:r>
            <a:endParaRPr lang="en-US" sz="1450" dirty="0"/>
          </a:p>
          <a:p>
            <a:r>
              <a:rPr lang="en-US" sz="1450" dirty="0">
                <a:solidFill>
                  <a:srgbClr val="1D252C"/>
                </a:solidFill>
              </a:rPr>
              <a:t>Innringer 2 og 3 skal bare teste håndtering av duplikat-/avstandsmeldinger.</a:t>
            </a:r>
            <a:endParaRPr lang="en-US" sz="1450" dirty="0"/>
          </a:p>
          <a:p>
            <a:r>
              <a:rPr lang="en-US" sz="1450" dirty="0">
                <a:solidFill>
                  <a:srgbClr val="1D252C"/>
                </a:solidFill>
              </a:rPr>
              <a:t>Forsvaret/militær kolonne er kontekst, ikke hovedaktør.</a:t>
            </a:r>
            <a:endParaRPr lang="en-US" sz="1450" dirty="0"/>
          </a:p>
          <a:p>
            <a:r>
              <a:rPr lang="en-US" sz="1450" dirty="0">
                <a:solidFill>
                  <a:srgbClr val="1D252C"/>
                </a:solidFill>
              </a:rPr>
              <a:t>Dersom teknikk svikter, gis innspillet muntlig av øvingsleder.</a:t>
            </a:r>
            <a:endParaRPr lang="en-US" sz="1450" dirty="0"/>
          </a:p>
        </p:txBody>
      </p:sp>
      <p:pic>
        <p:nvPicPr>
          <p:cNvPr id="6" name="Image 0" descr="C:\Users\runeg\OneDrive\Documents\Brann ting\Brannskolen 110 Kurs\Øvelsesplanlegging\produksjon_farrisbrua\08_bildepakke\bilde_2_farrisbru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1508760"/>
            <a:ext cx="4251960" cy="23957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86600" y="4160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6B76"/>
                </a:solidFill>
              </a:rPr>
              <a:t>Bildepakke brukes bare på definert tidspunkt.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" y="6446520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Spillstab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9052560" y="644652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ØVELSE - fiktivt scenario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0302A"/>
                </a:solidFill>
              </a:rPr>
              <a:t>DEL 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03864"/>
                </a:solidFill>
              </a:rPr>
              <a:t>Ettergjennomgang: faktisk øvelsesforløp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234440" cy="0"/>
          </a:xfrm>
          <a:prstGeom prst="line">
            <a:avLst/>
          </a:prstGeom>
          <a:noFill/>
          <a:ln w="27940">
            <a:solidFill>
              <a:srgbClr val="A030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993392" cy="1005840"/>
          </a:xfrm>
          <a:prstGeom prst="chevron">
            <a:avLst/>
          </a:prstGeom>
          <a:solidFill>
            <a:srgbClr val="A030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0-8 min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43000" y="2304288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Nødtelefon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utalarmering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26080" y="1874520"/>
            <a:ext cx="1993392" cy="1005840"/>
          </a:xfrm>
          <a:prstGeom prst="chevron">
            <a:avLst/>
          </a:prstGeom>
          <a:solidFill>
            <a:srgbClr val="A030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208483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8-22 min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83280" y="2304288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Fremkjøring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situasjonsbilde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166360" y="1874520"/>
            <a:ext cx="1993392" cy="1005840"/>
          </a:xfrm>
          <a:prstGeom prst="chevron">
            <a:avLst/>
          </a:prstGeom>
          <a:solidFill>
            <a:srgbClr val="9A6B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23560" y="208483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22-35 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23560" y="2304288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Første ressurs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vindusmelding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1874520"/>
            <a:ext cx="1993392" cy="1005840"/>
          </a:xfrm>
          <a:prstGeom prst="chevron">
            <a:avLst/>
          </a:prstGeom>
          <a:solidFill>
            <a:srgbClr val="1F5F8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0" y="208483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35-75 min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63840" y="2304288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Driftsfase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avklaringer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646920" y="1874520"/>
            <a:ext cx="1993392" cy="1005840"/>
          </a:xfrm>
          <a:prstGeom prst="chevron">
            <a:avLst/>
          </a:prstGeom>
          <a:solidFill>
            <a:srgbClr val="1F5F8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104120" y="208483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75-90 min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104120" y="2304288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Status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AAR</a:t>
            </a:r>
            <a:endParaRPr lang="en-US" sz="1050" dirty="0"/>
          </a:p>
        </p:txBody>
      </p:sp>
      <p:pic>
        <p:nvPicPr>
          <p:cNvPr id="20" name="Image 0" descr="C:\Users\runeg\OneDrive\Documents\Brann ting\Brannskolen 110 Kurs\Øvelsesplanlegging\produksjon_farrisbrua\08_bildepakke\bilde_4_farrisbru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3657600"/>
            <a:ext cx="5852160" cy="210312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02920" y="6446520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Ettergjennomgang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9052560" y="644652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ØVELSE - fiktivt scenario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0302A"/>
                </a:solidFill>
              </a:rPr>
              <a:t>DEL 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03864"/>
                </a:solidFill>
              </a:rPr>
              <a:t>AAR: fem spørsmål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234440" cy="0"/>
          </a:xfrm>
          <a:prstGeom prst="line">
            <a:avLst/>
          </a:prstGeom>
          <a:noFill/>
          <a:ln w="27940">
            <a:solidFill>
              <a:srgbClr val="A030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0302A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417320" y="150876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52C"/>
                </a:solidFill>
              </a:rPr>
              <a:t>Hva forventet vi ville skje?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267712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0302A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221992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52C"/>
                </a:solidFill>
              </a:rPr>
              <a:t>Hva skjedde?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2980944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0302A"/>
                </a:solidFill>
              </a:rPr>
              <a:t>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2935224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52C"/>
                </a:solidFill>
              </a:rPr>
              <a:t>Hvorfor ble det slik?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14400" y="3694176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0302A"/>
                </a:solidFill>
              </a:rPr>
              <a:t>4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3648456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52C"/>
                </a:solidFill>
              </a:rPr>
              <a:t>Hva gikk bra, og hvorfor?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14400" y="4407408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0302A"/>
                </a:solidFill>
              </a:rPr>
              <a:t>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4361688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52C"/>
                </a:solidFill>
              </a:rPr>
              <a:t>Hva kan forbedres, og hvordan?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60120" y="562356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03864"/>
                </a:solidFill>
              </a:rPr>
              <a:t>Fokus på hva og hvorfor, ikke hvem.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446520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9052560" y="644652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ØVELSE - fiktivt scenario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943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0302A"/>
                </a:solidFill>
              </a:rPr>
              <a:t>DEL 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03864"/>
                </a:solidFill>
              </a:rPr>
              <a:t>Oppsummer læring i tre kolonner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234440" cy="0"/>
          </a:xfrm>
          <a:prstGeom prst="line">
            <a:avLst/>
          </a:prstGeom>
          <a:noFill/>
          <a:ln w="27940">
            <a:solidFill>
              <a:srgbClr val="A030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320040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7DD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737360"/>
            <a:ext cx="3200400" cy="475488"/>
          </a:xfrm>
          <a:prstGeom prst="rect">
            <a:avLst/>
          </a:prstGeom>
          <a:solidFill>
            <a:srgbClr val="28724F"/>
          </a:solidFill>
          <a:ln w="12700">
            <a:solidFill>
              <a:srgbClr val="2872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883664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Fortsette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D252C"/>
                </a:solidFill>
              </a:rPr>
              <a:t>Hva fungerte godt nok til å videreføres?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3703320"/>
            <a:ext cx="2560320" cy="0"/>
          </a:xfrm>
          <a:prstGeom prst="line">
            <a:avLst/>
          </a:prstGeom>
          <a:noFill/>
          <a:ln w="12700">
            <a:solidFill>
              <a:srgbClr val="D7DD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4069080"/>
            <a:ext cx="2560320" cy="0"/>
          </a:xfrm>
          <a:prstGeom prst="line">
            <a:avLst/>
          </a:prstGeom>
          <a:noFill/>
          <a:ln w="12700">
            <a:solidFill>
              <a:srgbClr val="D7DD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1737360"/>
            <a:ext cx="320040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7DD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0560" y="1737360"/>
            <a:ext cx="3200400" cy="475488"/>
          </a:xfrm>
          <a:prstGeom prst="rect">
            <a:avLst/>
          </a:prstGeom>
          <a:solidFill>
            <a:srgbClr val="A0302A"/>
          </a:solidFill>
          <a:ln w="12700">
            <a:solidFill>
              <a:srgbClr val="A030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1883664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Slutte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00600" y="251460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D252C"/>
                </a:solidFill>
              </a:rPr>
              <a:t>Hva skapte støy, venting eller uklarhet?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00600" y="3703320"/>
            <a:ext cx="2560320" cy="0"/>
          </a:xfrm>
          <a:prstGeom prst="line">
            <a:avLst/>
          </a:prstGeom>
          <a:noFill/>
          <a:ln w="12700">
            <a:solidFill>
              <a:srgbClr val="D7DD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00600" y="4069080"/>
            <a:ext cx="2560320" cy="0"/>
          </a:xfrm>
          <a:prstGeom prst="line">
            <a:avLst/>
          </a:prstGeom>
          <a:noFill/>
          <a:ln w="12700">
            <a:solidFill>
              <a:srgbClr val="D7DD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0" y="1737360"/>
            <a:ext cx="320040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7DD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1737360"/>
            <a:ext cx="3200400" cy="475488"/>
          </a:xfrm>
          <a:prstGeom prst="rect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58200" y="1883664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Begynne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49640" y="251460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D252C"/>
                </a:solidFill>
              </a:rPr>
              <a:t>Hva bør prøves neste gang?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549640" y="3703320"/>
            <a:ext cx="2560320" cy="0"/>
          </a:xfrm>
          <a:prstGeom prst="line">
            <a:avLst/>
          </a:prstGeom>
          <a:noFill/>
          <a:ln w="12700">
            <a:solidFill>
              <a:srgbClr val="D7DD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49640" y="4069080"/>
            <a:ext cx="2560320" cy="0"/>
          </a:xfrm>
          <a:prstGeom prst="line">
            <a:avLst/>
          </a:prstGeom>
          <a:noFill/>
          <a:ln w="12700">
            <a:solidFill>
              <a:srgbClr val="D7DD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6446520"/>
            <a:ext cx="4206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9052560" y="6446520"/>
            <a:ext cx="2560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F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ØVELSE - fiktivt scenario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Brannskolen 110 kurs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Farrisbrua B43</dc:title>
  <dc:subject>Før-brief og ettergjennomgang for realistisk 110-øvelse</dc:subject>
  <dc:creator>B43 øvingsgruppe</dc:creator>
  <cp:lastModifiedBy>B43 øvingsgruppe</cp:lastModifiedBy>
  <cp:revision>1</cp:revision>
  <dcterms:created xsi:type="dcterms:W3CDTF">2026-05-04T11:43:58Z</dcterms:created>
  <dcterms:modified xsi:type="dcterms:W3CDTF">2026-05-04T11:43:58Z</dcterms:modified>
</cp:coreProperties>
</file>